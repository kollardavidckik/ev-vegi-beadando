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5" r:id="rId8"/>
    <p:sldId id="264" r:id="rId9"/>
    <p:sldId id="261" r:id="rId10"/>
    <p:sldId id="270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AF31D6-F81C-44FF-8D64-D3D070D2E179}" v="48" dt="2026-04-23T18:27:32.753"/>
    <p1510:client id="{7767551D-7970-4B9F-BD14-6DB066B142AE}" v="286" dt="2026-04-23T16:10:14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462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369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099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480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639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520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664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31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9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309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90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5715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>
          <p15:clr>
            <a:srgbClr val="F26B43"/>
          </p15:clr>
        </p15:guide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CA5DC5-A72D-4A8D-A37E-15C1B51FD1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>
                <a:latin typeface="Book Antiqua"/>
              </a:rPr>
              <a:t>A paranormális világ rejtélyei</a:t>
            </a:r>
            <a:endParaRPr lang="hu-HU" sz="4000" b="0">
              <a:latin typeface="Book Antiqua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9AD0953-70D5-4C35-904A-B4CA48077C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latin typeface="Bookman Old Style"/>
              </a:rPr>
              <a:t>Készítette: Kollár Dávid</a:t>
            </a:r>
          </a:p>
        </p:txBody>
      </p:sp>
    </p:spTree>
    <p:extLst>
      <p:ext uri="{BB962C8B-B14F-4D97-AF65-F5344CB8AC3E}">
        <p14:creationId xmlns:p14="http://schemas.microsoft.com/office/powerpoint/2010/main" val="3994815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71D1D7-C3CD-4D05-A38F-1816D0FB2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0">
                <a:latin typeface="Book Antiqua"/>
                <a:ea typeface="+mj-lt"/>
                <a:cs typeface="+mj-lt"/>
              </a:rPr>
              <a:t>Bevezetés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187256F-6CE1-48C5-9D97-5A58C7C13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hu-HU" sz="2800" dirty="0">
                <a:latin typeface="Bookman Old Style"/>
                <a:ea typeface="+mn-lt"/>
                <a:cs typeface="+mn-lt"/>
              </a:rPr>
              <a:t>Szellemjelenések: bármilyen szabad szemmel látható figura (általában árnyék)</a:t>
            </a:r>
          </a:p>
          <a:p>
            <a:pPr>
              <a:buFont typeface="Wingdings" charset="2"/>
              <a:buChar char="Ø"/>
            </a:pPr>
            <a:r>
              <a:rPr lang="hu-HU" sz="2800" dirty="0">
                <a:latin typeface="Bookman Old Style"/>
                <a:ea typeface="+mn-lt"/>
                <a:cs typeface="+mn-lt"/>
              </a:rPr>
              <a:t>Jövőbelátás</a:t>
            </a:r>
          </a:p>
          <a:p>
            <a:pPr>
              <a:buFont typeface="Wingdings" charset="2"/>
              <a:buChar char="Ø"/>
            </a:pPr>
            <a:r>
              <a:rPr lang="hu-HU" sz="2800" dirty="0" err="1">
                <a:latin typeface="Bookman Old Style"/>
                <a:ea typeface="+mn-lt"/>
                <a:cs typeface="+mn-lt"/>
              </a:rPr>
              <a:t>Déjà</a:t>
            </a:r>
            <a:r>
              <a:rPr lang="hu-HU" sz="2800" dirty="0">
                <a:latin typeface="Bookman Old Style"/>
                <a:ea typeface="+mn-lt"/>
                <a:cs typeface="+mn-lt"/>
              </a:rPr>
              <a:t> vu jelenség</a:t>
            </a:r>
            <a:endParaRPr lang="hu-HU" sz="2800" dirty="0">
              <a:solidFill>
                <a:srgbClr val="FFFFFF"/>
              </a:solidFill>
              <a:latin typeface="Bookman Old Style"/>
              <a:ea typeface="+mn-lt"/>
              <a:cs typeface="+mn-lt"/>
            </a:endParaRPr>
          </a:p>
          <a:p>
            <a:pPr>
              <a:buFont typeface="Wingdings" charset="2"/>
              <a:buChar char="Ø"/>
            </a:pPr>
            <a:r>
              <a:rPr lang="hu-HU" sz="2800" dirty="0">
                <a:latin typeface="Bookman Old Style"/>
              </a:rPr>
              <a:t>Hallucinációk </a:t>
            </a:r>
            <a:endParaRPr lang="hu-HU" sz="1200" dirty="0">
              <a:solidFill>
                <a:srgbClr val="202122"/>
              </a:solidFill>
              <a:highlight>
                <a:srgbClr val="FFFFFF"/>
              </a:highlight>
              <a:latin typeface="Bookman Old Style"/>
            </a:endParaRPr>
          </a:p>
          <a:p>
            <a:pPr>
              <a:buFont typeface="Wingdings" charset="2"/>
              <a:buChar char="Ø"/>
            </a:pPr>
            <a:r>
              <a:rPr lang="hu-HU" sz="2800" dirty="0">
                <a:latin typeface="Bookman Old Style"/>
              </a:rPr>
              <a:t>Alvási paralízis</a:t>
            </a:r>
          </a:p>
          <a:p>
            <a:pPr>
              <a:buFont typeface="Wingdings" charset="2"/>
              <a:buChar char="Ø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30295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0F4BD2-B1F3-404D-9F88-DBE4B27D0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0">
                <a:latin typeface="Book Antiqua"/>
                <a:ea typeface="+mj-lt"/>
                <a:cs typeface="+mj-lt"/>
              </a:rPr>
              <a:t>Mi az a paranormális?</a:t>
            </a:r>
            <a:endParaRPr lang="en-US">
              <a:latin typeface="Book Antiqua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AD7DD1-62B5-4BE1-AD44-FA34F69F9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sz="2800" dirty="0"/>
          </a:p>
          <a:p>
            <a:pPr>
              <a:buFont typeface="Wingdings" charset="2"/>
              <a:buChar char="Ø"/>
            </a:pPr>
            <a:r>
              <a:rPr lang="hu-HU" sz="2800">
                <a:latin typeface="Bookman Old Style"/>
                <a:ea typeface="+mn-lt"/>
                <a:cs typeface="+mn-lt"/>
              </a:rPr>
              <a:t>Természetfelettinek tartott események </a:t>
            </a:r>
            <a:endParaRPr lang="hu-HU" sz="2800">
              <a:latin typeface="Bookman Old Style"/>
            </a:endParaRPr>
          </a:p>
          <a:p>
            <a:pPr>
              <a:buFont typeface="Wingdings" charset="2"/>
              <a:buChar char="Ø"/>
            </a:pPr>
            <a:r>
              <a:rPr lang="hu-HU" sz="2800">
                <a:latin typeface="Bookman Old Style"/>
                <a:ea typeface="+mn-lt"/>
                <a:cs typeface="+mn-lt"/>
              </a:rPr>
              <a:t>Kultúránként eltérő értelmezések</a:t>
            </a:r>
            <a:endParaRPr lang="hu-HU" sz="2800">
              <a:latin typeface="Bookman Old Style"/>
            </a:endParaRPr>
          </a:p>
          <a:p>
            <a:pPr>
              <a:buFont typeface="Wingdings" charset="2"/>
              <a:buChar char="Ø"/>
            </a:pPr>
            <a:r>
              <a:rPr lang="hu-HU" sz="2800">
                <a:latin typeface="Bookman Old Style"/>
                <a:ea typeface="+mn-lt"/>
                <a:cs typeface="+mn-lt"/>
              </a:rPr>
              <a:t>Titokzatos jelenségek, amelyek látszólag meghaladják az emberi érzékek és a hétköznapi tapasztalat határait</a:t>
            </a:r>
            <a:endParaRPr lang="hu-HU" sz="2800">
              <a:latin typeface="Bookman Old Style"/>
            </a:endParaRPr>
          </a:p>
          <a:p>
            <a:pPr>
              <a:buFont typeface="Wingdings" charset="2"/>
              <a:buChar char="Ø"/>
            </a:pPr>
            <a:endParaRPr lang="hu-HU" sz="2800" dirty="0">
              <a:latin typeface="Bookman Old Style"/>
            </a:endParaRPr>
          </a:p>
          <a:p>
            <a:pPr>
              <a:buFont typeface="Wingdings" charset="2"/>
              <a:buChar char="Ø"/>
            </a:pP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158525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6E14B7-4CE9-4E32-8B9E-92945FD7E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0">
                <a:latin typeface="Book Antiqua"/>
                <a:ea typeface="+mj-lt"/>
                <a:cs typeface="+mj-lt"/>
              </a:rPr>
              <a:t>Szellemek és kísértetek</a:t>
            </a:r>
            <a:endParaRPr lang="en-US">
              <a:latin typeface="Book Antiqua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7E653F-09B5-421C-AA3F-FE95CB07E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hu-HU" sz="2800" dirty="0">
                <a:latin typeface="Bookman Old Style"/>
                <a:ea typeface="+mn-lt"/>
                <a:cs typeface="+mn-lt"/>
              </a:rPr>
              <a:t>Gyakori beszámolók: zajok, árnyak, jelenések</a:t>
            </a:r>
          </a:p>
          <a:p>
            <a:pPr>
              <a:buFont typeface="Wingdings" charset="2"/>
              <a:buChar char="Ø"/>
            </a:pPr>
            <a:r>
              <a:rPr lang="hu-HU" sz="2800" dirty="0">
                <a:latin typeface="Bookman Old Style"/>
                <a:ea typeface="+mn-lt"/>
                <a:cs typeface="+mn-lt"/>
              </a:rPr>
              <a:t>Egyéb beszámolók: lámpa pislákolás</a:t>
            </a:r>
          </a:p>
          <a:p>
            <a:pPr>
              <a:buFont typeface="Wingdings" charset="2"/>
              <a:buChar char="Ø"/>
            </a:pPr>
            <a:r>
              <a:rPr lang="hu-HU" sz="2800" dirty="0">
                <a:latin typeface="Bookman Old Style"/>
                <a:ea typeface="+mn-lt"/>
                <a:cs typeface="+mn-lt"/>
              </a:rPr>
              <a:t>Elhunyt emberek lelkei</a:t>
            </a:r>
          </a:p>
          <a:p>
            <a:pPr>
              <a:buFont typeface="Wingdings" charset="2"/>
              <a:buChar char="Ø"/>
            </a:pPr>
            <a:r>
              <a:rPr lang="hu-HU" sz="3200" dirty="0">
                <a:latin typeface="Bookman Old Style"/>
                <a:cs typeface="Browallia New"/>
              </a:rPr>
              <a:t>Parapszichológia;</a:t>
            </a:r>
          </a:p>
          <a:p>
            <a:pPr>
              <a:buFont typeface="Wingdings" charset="2"/>
              <a:buChar char="Ø"/>
            </a:pPr>
            <a:r>
              <a:rPr lang="hu-HU" sz="2800" dirty="0">
                <a:latin typeface="Bookman Old Style"/>
                <a:ea typeface="+mn-lt"/>
                <a:cs typeface="+mn-lt"/>
              </a:rPr>
              <a:t>Kutatja és vizsgálja az emberi elme rejtélyes és eddig ismeretlen jelenségeit.</a:t>
            </a:r>
            <a:endParaRPr lang="hu-HU" dirty="0">
              <a:latin typeface="Bookman Old Style"/>
            </a:endParaRPr>
          </a:p>
          <a:p>
            <a:pPr>
              <a:buFont typeface="Wingdings" charset="2"/>
              <a:buChar char="Ø"/>
            </a:pPr>
            <a:endParaRPr lang="hu-HU" sz="2800" dirty="0">
              <a:latin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5200040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9FD2B-A4BD-C167-263F-0379D628D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47188"/>
            <a:ext cx="3413084" cy="1559412"/>
          </a:xfrm>
        </p:spPr>
        <p:txBody>
          <a:bodyPr>
            <a:normAutofit/>
          </a:bodyPr>
          <a:lstStyle/>
          <a:p>
            <a:r>
              <a:rPr lang="en-US" sz="3200" dirty="0" err="1">
                <a:latin typeface="Book Antiqua"/>
              </a:rPr>
              <a:t>Árny</a:t>
            </a:r>
            <a:r>
              <a:rPr lang="en-US" sz="3200" dirty="0">
                <a:latin typeface="Book Antiqua"/>
              </a:rPr>
              <a:t> </a:t>
            </a:r>
            <a:r>
              <a:rPr lang="en-US" sz="3200" dirty="0" err="1">
                <a:latin typeface="Book Antiqua"/>
              </a:rPr>
              <a:t>jelenségek</a:t>
            </a:r>
            <a:endParaRPr lang="en-US" sz="3200">
              <a:latin typeface="Book Antiqu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208F8-8695-D65C-A29E-5022E7636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413000"/>
            <a:ext cx="3404372" cy="3632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sz="2400" dirty="0" err="1">
                <a:latin typeface="Bookman Old Style"/>
              </a:rPr>
              <a:t>Ezeket</a:t>
            </a:r>
            <a:r>
              <a:rPr lang="en-US" sz="2400" dirty="0">
                <a:latin typeface="Bookman Old Style"/>
              </a:rPr>
              <a:t> a </a:t>
            </a:r>
            <a:r>
              <a:rPr lang="en-US" sz="2400" dirty="0" err="1">
                <a:latin typeface="Bookman Old Style"/>
              </a:rPr>
              <a:t>legnehezzeb</a:t>
            </a:r>
            <a:r>
              <a:rPr lang="en-US" sz="2400" dirty="0">
                <a:latin typeface="Bookman Old Style"/>
              </a:rPr>
              <a:t> </a:t>
            </a:r>
            <a:r>
              <a:rPr lang="en-US" sz="2400" dirty="0" err="1">
                <a:latin typeface="Bookman Old Style"/>
              </a:rPr>
              <a:t>észre</a:t>
            </a:r>
            <a:r>
              <a:rPr lang="en-US" sz="2400" dirty="0">
                <a:latin typeface="Bookman Old Style"/>
              </a:rPr>
              <a:t> </a:t>
            </a:r>
            <a:r>
              <a:rPr lang="en-US" sz="2400" dirty="0" err="1">
                <a:latin typeface="Bookman Old Style"/>
              </a:rPr>
              <a:t>venni</a:t>
            </a:r>
            <a:endParaRPr lang="en-US" sz="2400" dirty="0">
              <a:latin typeface="Bookman Old Style"/>
            </a:endParaRPr>
          </a:p>
          <a:p>
            <a:pPr marL="0" indent="0">
              <a:buNone/>
            </a:pPr>
            <a:endParaRPr lang="en-US" sz="2400" dirty="0">
              <a:latin typeface="Bookman Old Style"/>
            </a:endParaRPr>
          </a:p>
          <a:p>
            <a:pPr marL="0" indent="0">
              <a:buNone/>
            </a:pPr>
            <a:endParaRPr lang="en-US" sz="2400" dirty="0">
              <a:latin typeface="Bookman Old Style"/>
            </a:endParaRPr>
          </a:p>
          <a:p>
            <a:pPr>
              <a:buFont typeface="Wingdings" charset="2"/>
              <a:buChar char="Ø"/>
            </a:pPr>
            <a:endParaRPr lang="en-US" sz="1600"/>
          </a:p>
        </p:txBody>
      </p:sp>
      <p:pic>
        <p:nvPicPr>
          <p:cNvPr id="4" name="Picture 3" descr="Top 8 rémisztő szellemes videó | ijesztő videóra vett paranormális ...">
            <a:extLst>
              <a:ext uri="{FF2B5EF4-FFF2-40B4-BE49-F238E27FC236}">
                <a16:creationId xmlns:a16="http://schemas.microsoft.com/office/drawing/2014/main" id="{8F97004B-1158-089E-81E3-66EB55AA59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6" r="25263" b="-2"/>
          <a:stretch>
            <a:fillRect/>
          </a:stretch>
        </p:blipFill>
        <p:spPr>
          <a:xfrm>
            <a:off x="5603706" y="1258529"/>
            <a:ext cx="5638853" cy="433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82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A1E86C-845D-464C-904B-19BB057BB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Szuperképességek, létezhetnek e?</a:t>
            </a:r>
          </a:p>
          <a:p>
            <a:endParaRPr lang="hu-HU" b="0" dirty="0">
              <a:latin typeface="Browallia New"/>
              <a:cs typeface="Browallia New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E121B64-5640-4C9D-B5A6-0932ADAF9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hu-HU" sz="2800" dirty="0">
                <a:latin typeface="Bookman Old Style"/>
              </a:rPr>
              <a:t>Hatodik érzék:</a:t>
            </a:r>
            <a:r>
              <a:rPr lang="hu-HU" sz="2800" dirty="0">
                <a:ea typeface="+mn-lt"/>
                <a:cs typeface="+mn-lt"/>
              </a:rPr>
              <a:t> az érzékszerveid nélkül tudsz meg dolgokat, ez a telepátia és a tisztánlátás lényege!</a:t>
            </a:r>
            <a:endParaRPr lang="hu-HU" dirty="0"/>
          </a:p>
          <a:p>
            <a:pPr>
              <a:buFont typeface="Arial" charset="2"/>
              <a:buChar char="•"/>
            </a:pPr>
            <a:r>
              <a:rPr lang="hu-HU" sz="2800" dirty="0" err="1">
                <a:latin typeface="Neue Haas Grotesk Text Pro"/>
              </a:rPr>
              <a:t>Elmekinézis</a:t>
            </a:r>
            <a:r>
              <a:rPr lang="hu-HU" sz="2800" dirty="0">
                <a:latin typeface="Neue Haas Grotesk Text Pro"/>
              </a:rPr>
              <a:t>: </a:t>
            </a:r>
            <a:r>
              <a:rPr lang="hu-HU" sz="2800">
                <a:ea typeface="+mn-lt"/>
                <a:cs typeface="+mn-lt"/>
              </a:rPr>
              <a:t>Gondolattal hatni </a:t>
            </a:r>
            <a:r>
              <a:rPr lang="hu-HU" sz="2800" dirty="0">
                <a:ea typeface="+mn-lt"/>
                <a:cs typeface="+mn-lt"/>
              </a:rPr>
              <a:t>fizikai tárgyakra vagy véletlenszerű eseményekre, pusztán </a:t>
            </a:r>
            <a:r>
              <a:rPr lang="hu-HU" sz="2800">
                <a:ea typeface="+mn-lt"/>
                <a:cs typeface="+mn-lt"/>
              </a:rPr>
              <a:t>az elméd </a:t>
            </a:r>
            <a:r>
              <a:rPr lang="hu-HU" sz="2800" dirty="0">
                <a:ea typeface="+mn-lt"/>
                <a:cs typeface="+mn-lt"/>
              </a:rPr>
              <a:t>erejével</a:t>
            </a:r>
            <a:endParaRPr lang="hu-HU" sz="2800" dirty="0">
              <a:latin typeface="Neue Haas Grotesk Text Pro"/>
            </a:endParaRPr>
          </a:p>
          <a:p>
            <a:pPr>
              <a:buFont typeface="Arial" charset="2"/>
              <a:buChar char="•"/>
            </a:pPr>
            <a:endParaRPr lang="hu-HU" sz="2800" dirty="0">
              <a:latin typeface="Neue Haas Grotesk Text Pro"/>
            </a:endParaRPr>
          </a:p>
          <a:p>
            <a:pPr>
              <a:buFont typeface="Wingdings" charset="2"/>
              <a:buChar char="Ø"/>
            </a:pPr>
            <a:endParaRPr lang="hu-HU" sz="2800" dirty="0">
              <a:latin typeface="Bookman Old Style"/>
            </a:endParaRPr>
          </a:p>
          <a:p>
            <a:pPr>
              <a:buFont typeface="Wingdings" charset="2"/>
              <a:buChar char="Ø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8679241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F9CF4F4-72AE-489A-9639-BAA918376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0">
                <a:latin typeface="Browallia New"/>
                <a:ea typeface="+mj-lt"/>
                <a:cs typeface="Browallia New"/>
              </a:rPr>
              <a:t>Poltergeist jelenségek</a:t>
            </a:r>
            <a:endParaRPr lang="en-US">
              <a:latin typeface="Browallia New"/>
              <a:cs typeface="Browallia New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57BCF6C-FA2B-4B2F-A6E6-80B9E419D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hu-HU" sz="2400" dirty="0" err="1">
                <a:latin typeface="Bookman Old Style"/>
                <a:ea typeface="+mn-lt"/>
                <a:cs typeface="+mn-lt"/>
              </a:rPr>
              <a:t>Tárgyak</a:t>
            </a:r>
            <a:r>
              <a:rPr lang="hu-HU" sz="2400" dirty="0">
                <a:latin typeface="Bookman Old Style"/>
                <a:ea typeface="+mn-lt"/>
                <a:cs typeface="+mn-lt"/>
              </a:rPr>
              <a:t> </a:t>
            </a:r>
            <a:r>
              <a:rPr lang="hu-HU" sz="2400" dirty="0" err="1">
                <a:latin typeface="Bookman Old Style"/>
                <a:ea typeface="+mn-lt"/>
                <a:cs typeface="+mn-lt"/>
              </a:rPr>
              <a:t>mozgása</a:t>
            </a:r>
            <a:r>
              <a:rPr lang="hu-HU" sz="2400" dirty="0">
                <a:latin typeface="Bookman Old Style"/>
                <a:ea typeface="+mn-lt"/>
                <a:cs typeface="+mn-lt"/>
              </a:rPr>
              <a:t> </a:t>
            </a:r>
            <a:r>
              <a:rPr lang="hu-HU" sz="2400" dirty="0" err="1">
                <a:latin typeface="Bookman Old Style"/>
                <a:ea typeface="+mn-lt"/>
                <a:cs typeface="+mn-lt"/>
              </a:rPr>
              <a:t>maguktól</a:t>
            </a:r>
            <a:r>
              <a:rPr lang="hu-HU" sz="2400" dirty="0">
                <a:latin typeface="Bookman Old Style"/>
                <a:ea typeface="+mn-lt"/>
                <a:cs typeface="+mn-lt"/>
              </a:rPr>
              <a:t>, </a:t>
            </a:r>
            <a:r>
              <a:rPr lang="hu-HU" sz="2400" dirty="0" err="1">
                <a:latin typeface="Bookman Old Style"/>
                <a:ea typeface="+mn-lt"/>
                <a:cs typeface="+mn-lt"/>
              </a:rPr>
              <a:t>egy</a:t>
            </a:r>
            <a:r>
              <a:rPr lang="hu-HU" sz="2400" dirty="0">
                <a:latin typeface="Bookman Old Style"/>
                <a:ea typeface="+mn-lt"/>
                <a:cs typeface="+mn-lt"/>
              </a:rPr>
              <a:t> </a:t>
            </a:r>
            <a:r>
              <a:rPr lang="hu-HU" sz="2400" dirty="0" err="1">
                <a:latin typeface="Bookman Old Style"/>
                <a:ea typeface="+mn-lt"/>
                <a:cs typeface="+mn-lt"/>
              </a:rPr>
              <a:t>vagy</a:t>
            </a:r>
            <a:r>
              <a:rPr lang="hu-HU" sz="2400" dirty="0">
                <a:latin typeface="Bookman Old Style"/>
                <a:ea typeface="+mn-lt"/>
                <a:cs typeface="+mn-lt"/>
              </a:rPr>
              <a:t> </a:t>
            </a:r>
            <a:r>
              <a:rPr lang="hu-HU" sz="2400" dirty="0" err="1">
                <a:latin typeface="Bookman Old Style"/>
                <a:ea typeface="+mn-lt"/>
                <a:cs typeface="+mn-lt"/>
              </a:rPr>
              <a:t>egyszerre</a:t>
            </a:r>
            <a:r>
              <a:rPr lang="hu-HU" sz="2400" dirty="0">
                <a:latin typeface="Bookman Old Style"/>
                <a:ea typeface="+mn-lt"/>
                <a:cs typeface="+mn-lt"/>
              </a:rPr>
              <a:t> </a:t>
            </a:r>
            <a:r>
              <a:rPr lang="hu-HU" sz="2400" dirty="0" err="1">
                <a:latin typeface="Bookman Old Style"/>
                <a:ea typeface="+mn-lt"/>
                <a:cs typeface="+mn-lt"/>
              </a:rPr>
              <a:t>több</a:t>
            </a:r>
            <a:r>
              <a:rPr lang="hu-HU" sz="2400" dirty="0">
                <a:latin typeface="Bookman Old Style"/>
                <a:ea typeface="+mn-lt"/>
                <a:cs typeface="+mn-lt"/>
              </a:rPr>
              <a:t> </a:t>
            </a:r>
            <a:r>
              <a:rPr lang="hu-HU" sz="2400" dirty="0" err="1">
                <a:latin typeface="Bookman Old Style"/>
                <a:ea typeface="+mn-lt"/>
                <a:cs typeface="+mn-lt"/>
              </a:rPr>
              <a:t>tárgy</a:t>
            </a:r>
            <a:endParaRPr lang="en-US" sz="2400" dirty="0" err="1">
              <a:latin typeface="Bookman Old Style"/>
            </a:endParaRPr>
          </a:p>
          <a:p>
            <a:pPr>
              <a:buFont typeface="Wingdings" charset="2"/>
              <a:buChar char="Ø"/>
            </a:pPr>
            <a:r>
              <a:rPr lang="hu-HU" sz="2400" dirty="0">
                <a:latin typeface="Bookman Old Style"/>
                <a:ea typeface="+mn-lt"/>
                <a:cs typeface="+mn-lt"/>
              </a:rPr>
              <a:t>Hangok és kopogások</a:t>
            </a:r>
          </a:p>
          <a:p>
            <a:pPr>
              <a:buFont typeface="Wingdings" charset="2"/>
              <a:buChar char="Ø"/>
            </a:pPr>
            <a:r>
              <a:rPr lang="hu-HU" sz="2400" dirty="0">
                <a:latin typeface="Bookman Old Style"/>
                <a:ea typeface="+mn-lt"/>
                <a:cs typeface="+mn-lt"/>
              </a:rPr>
              <a:t>Gyakran fiatalokhoz kötik</a:t>
            </a:r>
          </a:p>
          <a:p>
            <a:pPr>
              <a:buFont typeface="Wingdings" charset="2"/>
              <a:buChar char="Ø"/>
            </a:pPr>
            <a:r>
              <a:rPr lang="hu-HU" sz="2400" dirty="0">
                <a:latin typeface="Bookman Old Style"/>
                <a:ea typeface="+mn-lt"/>
                <a:cs typeface="+mn-lt"/>
              </a:rPr>
              <a:t>Néha lámpák pislákolása</a:t>
            </a:r>
          </a:p>
        </p:txBody>
      </p:sp>
    </p:spTree>
    <p:extLst>
      <p:ext uri="{BB962C8B-B14F-4D97-AF65-F5344CB8AC3E}">
        <p14:creationId xmlns:p14="http://schemas.microsoft.com/office/powerpoint/2010/main" val="63158672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15B938-EAC3-4536-923E-B23A4D315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29" y="115263"/>
            <a:ext cx="9956747" cy="786948"/>
          </a:xfrm>
        </p:spPr>
        <p:txBody>
          <a:bodyPr/>
          <a:lstStyle/>
          <a:p>
            <a:r>
              <a:rPr lang="hu-HU" b="0">
                <a:latin typeface="Browallia New"/>
                <a:cs typeface="Browallia New"/>
              </a:rPr>
              <a:t>Hit és tudomány kell e válaszatni?</a:t>
            </a:r>
            <a:endParaRPr lang="hu-HU" b="0" dirty="0">
              <a:latin typeface="Browallia New"/>
              <a:cs typeface="Browallia New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EA33756-0ED2-4390-BC6F-477FDE5DD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67" y="1140830"/>
            <a:ext cx="9956747" cy="537581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hu-HU" sz="3000"/>
              <a:t>Nem Csak Vallás;</a:t>
            </a:r>
            <a:endParaRPr lang="hu-HU" sz="3000" dirty="0">
              <a:latin typeface="Bookman Old Style"/>
            </a:endParaRPr>
          </a:p>
          <a:p>
            <a:pPr marL="0" indent="0">
              <a:buNone/>
            </a:pPr>
            <a:r>
              <a:rPr lang="hu-HU" sz="2800">
                <a:ea typeface="+mn-lt"/>
                <a:cs typeface="+mn-lt"/>
              </a:rPr>
              <a:t>A paranormálisban való hit nem feltétlenül vallásos dolog.</a:t>
            </a:r>
            <a:endParaRPr lang="hu-HU" sz="2800">
              <a:latin typeface="Bookman Old Style"/>
              <a:ea typeface="+mn-lt"/>
              <a:cs typeface="+mn-lt"/>
            </a:endParaRPr>
          </a:p>
          <a:p>
            <a:pPr>
              <a:buFont typeface="Wingdings" charset="2"/>
              <a:buChar char="Ø"/>
            </a:pPr>
            <a:r>
              <a:rPr lang="hu-HU" sz="3200">
                <a:ea typeface="+mn-lt"/>
                <a:cs typeface="+mn-lt"/>
              </a:rPr>
              <a:t>Hit</a:t>
            </a:r>
            <a:r>
              <a:rPr lang="hu-HU" sz="3200"/>
              <a:t> és Tudomány közti különbség;</a:t>
            </a:r>
            <a:endParaRPr lang="hu-HU" sz="3200">
              <a:latin typeface="Bookman Old Style"/>
            </a:endParaRPr>
          </a:p>
          <a:p>
            <a:pPr marL="0" indent="0">
              <a:buNone/>
            </a:pPr>
            <a:r>
              <a:rPr lang="hu-HU" sz="2800">
                <a:ea typeface="+mn-lt"/>
                <a:cs typeface="+mn-lt"/>
              </a:rPr>
              <a:t>A két megközelítés nem mindig zárja ki egymást, érdemes mindkét oldalt meghallgatni</a:t>
            </a:r>
            <a:endParaRPr lang="hu-HU" sz="2800"/>
          </a:p>
          <a:p>
            <a:pPr>
              <a:buFont typeface="Wingdings" charset="2"/>
              <a:buChar char="Ø"/>
            </a:pPr>
            <a:r>
              <a:rPr lang="hu-HU" sz="3000"/>
              <a:t>Életük Része;</a:t>
            </a:r>
            <a:endParaRPr lang="hu-HU" sz="3000" dirty="0"/>
          </a:p>
          <a:p>
            <a:pPr marL="0" indent="0">
              <a:buNone/>
            </a:pPr>
            <a:r>
              <a:rPr lang="hu-HU" sz="2800">
                <a:ea typeface="+mn-lt"/>
                <a:cs typeface="+mn-lt"/>
              </a:rPr>
              <a:t>Sokkan hiszik azt, hogy fontos szerepet játszik az emberi életben.</a:t>
            </a:r>
            <a:endParaRPr lang="hu-HU"/>
          </a:p>
          <a:p>
            <a:pPr>
              <a:buFont typeface="Wingdings" charset="2"/>
              <a:buChar char="Ø"/>
            </a:pPr>
            <a:endParaRPr lang="hu-HU" sz="2800" dirty="0"/>
          </a:p>
          <a:p>
            <a:pPr>
              <a:buFont typeface="Wingdings" charset="2"/>
              <a:buChar char="Ø"/>
            </a:pPr>
            <a:endParaRPr lang="hu-HU" sz="2800" dirty="0">
              <a:latin typeface="Bookman Old Style"/>
            </a:endParaRPr>
          </a:p>
          <a:p>
            <a:pPr>
              <a:buFont typeface="Wingdings" charset="2"/>
              <a:buChar char="Ø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07930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4212AC-733C-4D6F-94D1-D1CA6B70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>
                <a:latin typeface="Browallia New"/>
                <a:ea typeface="+mj-lt"/>
                <a:cs typeface="Browallia New"/>
              </a:rPr>
              <a:t>Kriptozoológia</a:t>
            </a:r>
            <a:endParaRPr lang="en-US">
              <a:latin typeface="Browallia New"/>
              <a:cs typeface="Browallia New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D1F8845-5319-4A44-816B-C84FDF5FD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821" y="2624157"/>
            <a:ext cx="3835583" cy="363220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Font typeface="Wingdings" charset="2"/>
              <a:buChar char="Ø"/>
            </a:pPr>
            <a:r>
              <a:rPr lang="hu-HU" sz="2400">
                <a:latin typeface="Bookman Old Style"/>
                <a:ea typeface="+mn-lt"/>
                <a:cs typeface="+mn-lt"/>
              </a:rPr>
              <a:t>Ismeretlen lények kutatása</a:t>
            </a:r>
            <a:endParaRPr lang="en-US" sz="2400">
              <a:latin typeface="Bookman Old Style"/>
            </a:endParaRPr>
          </a:p>
          <a:p>
            <a:pPr>
              <a:buClr>
                <a:srgbClr val="FFFFFF"/>
              </a:buClr>
              <a:buFont typeface="Wingdings" charset="2"/>
              <a:buChar char="Ø"/>
            </a:pPr>
            <a:r>
              <a:rPr lang="hu-HU" sz="2400">
                <a:latin typeface="Bookman Old Style"/>
                <a:ea typeface="+mn-lt"/>
                <a:cs typeface="+mn-lt"/>
              </a:rPr>
              <a:t>Bizonyítékok hiánya</a:t>
            </a:r>
            <a:endParaRPr lang="hu-HU" sz="2400">
              <a:latin typeface="Bookman Old Style"/>
              <a:ea typeface="Calibri"/>
              <a:cs typeface="Calibri"/>
            </a:endParaRPr>
          </a:p>
          <a:p>
            <a:pPr>
              <a:buClr>
                <a:srgbClr val="FFFFFF"/>
              </a:buClr>
              <a:buFont typeface="Wingdings" charset="2"/>
              <a:buChar char="Ø"/>
            </a:pPr>
            <a:r>
              <a:rPr lang="hu-HU" sz="2400">
                <a:latin typeface="Bookman Old Style"/>
                <a:ea typeface="Calibri"/>
                <a:cs typeface="Calibri"/>
              </a:rPr>
              <a:t>Jelentése: szóbeszéd vagy mitológia, létezése kérdéses vagy kihaltnak tartanak.</a:t>
            </a:r>
            <a:endParaRPr lang="hu-HU" sz="2400">
              <a:highlight>
                <a:srgbClr val="FFFFFF"/>
              </a:highlight>
              <a:latin typeface="Bookman Old Style"/>
              <a:ea typeface="+mn-lt"/>
              <a:cs typeface="+mn-lt"/>
            </a:endParaRPr>
          </a:p>
          <a:p>
            <a:pPr>
              <a:buClr>
                <a:srgbClr val="FFFFFF"/>
              </a:buClr>
              <a:buFont typeface="Wingdings" charset="2"/>
              <a:buChar char="Ø"/>
            </a:pPr>
            <a:endParaRPr lang="hu-HU" sz="1600">
              <a:ea typeface="Calibri"/>
              <a:cs typeface="Calibri"/>
            </a:endParaRPr>
          </a:p>
        </p:txBody>
      </p:sp>
      <p:pic>
        <p:nvPicPr>
          <p:cNvPr id="4" name="Picture 3" descr="Kriptozoológia - Az állatvilág rejtélyes oldala: Ismertető ...">
            <a:extLst>
              <a:ext uri="{FF2B5EF4-FFF2-40B4-BE49-F238E27FC236}">
                <a16:creationId xmlns:a16="http://schemas.microsoft.com/office/drawing/2014/main" id="{8344A104-EA39-CEBB-DDEF-FEF6974E8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851" y="2623365"/>
            <a:ext cx="6277349" cy="329560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9964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F482A-1543-0836-DF3C-29B5DEDC4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latin typeface="Browallia New"/>
                <a:cs typeface="Browallia New"/>
              </a:rPr>
              <a:t>Alvás paralízis</a:t>
            </a:r>
            <a:endParaRPr lang="en-US">
              <a:latin typeface="Browallia New"/>
              <a:cs typeface="Browallia N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FD828-47B7-FBA3-F791-9D2A5D3DA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sz="2800" dirty="0" err="1">
                <a:latin typeface="Bookman Old Style"/>
              </a:rPr>
              <a:t>Közvetlenül</a:t>
            </a:r>
            <a:r>
              <a:rPr lang="en-US" sz="2800" dirty="0">
                <a:latin typeface="Bookman Old Style"/>
              </a:rPr>
              <a:t> </a:t>
            </a:r>
            <a:r>
              <a:rPr lang="en-US" sz="2800" dirty="0" err="1">
                <a:latin typeface="Bookman Old Style"/>
              </a:rPr>
              <a:t>elalvás</a:t>
            </a:r>
            <a:r>
              <a:rPr lang="en-US" sz="2800" dirty="0">
                <a:latin typeface="Bookman Old Style"/>
              </a:rPr>
              <a:t> </a:t>
            </a:r>
            <a:r>
              <a:rPr lang="en-US" sz="2800" dirty="0" err="1">
                <a:latin typeface="Bookman Old Style"/>
              </a:rPr>
              <a:t>elött</a:t>
            </a:r>
            <a:r>
              <a:rPr lang="en-US" sz="2800" dirty="0">
                <a:latin typeface="Bookman Old Style"/>
              </a:rPr>
              <a:t> </a:t>
            </a:r>
            <a:r>
              <a:rPr lang="en-US" sz="2800" dirty="0" err="1">
                <a:latin typeface="Bookman Old Style"/>
              </a:rPr>
              <a:t>vagy</a:t>
            </a:r>
            <a:r>
              <a:rPr lang="en-US" sz="2800" dirty="0">
                <a:latin typeface="Bookman Old Style"/>
              </a:rPr>
              <a:t> </a:t>
            </a:r>
            <a:r>
              <a:rPr lang="en-US" sz="2800" dirty="0" err="1">
                <a:latin typeface="Bookman Old Style"/>
              </a:rPr>
              <a:t>felébredés</a:t>
            </a:r>
            <a:r>
              <a:rPr lang="en-US" sz="2800" dirty="0">
                <a:latin typeface="Bookman Old Style"/>
              </a:rPr>
              <a:t> </a:t>
            </a:r>
            <a:r>
              <a:rPr lang="en-US" sz="2800" dirty="0" err="1">
                <a:latin typeface="Bookman Old Style"/>
              </a:rPr>
              <a:t>előtt</a:t>
            </a:r>
            <a:r>
              <a:rPr lang="en-US" sz="2800" dirty="0">
                <a:latin typeface="Bookman Old Style"/>
              </a:rPr>
              <a:t> </a:t>
            </a:r>
            <a:r>
              <a:rPr lang="en-US" sz="2800" dirty="0" err="1">
                <a:latin typeface="Bookman Old Style"/>
              </a:rPr>
              <a:t>történik</a:t>
            </a:r>
            <a:r>
              <a:rPr lang="en-US" sz="2800" dirty="0">
                <a:latin typeface="Bookman Old Style"/>
              </a:rPr>
              <a:t> meg.</a:t>
            </a:r>
          </a:p>
          <a:p>
            <a:pPr>
              <a:buFont typeface="Wingdings" charset="2"/>
              <a:buChar char="Ø"/>
            </a:pPr>
            <a:r>
              <a:rPr lang="en-US" sz="2800" dirty="0">
                <a:latin typeface="Bookman Old Style"/>
              </a:rPr>
              <a:t>Az </a:t>
            </a:r>
            <a:r>
              <a:rPr lang="en-US" sz="2800" dirty="0" err="1">
                <a:latin typeface="Bookman Old Style"/>
              </a:rPr>
              <a:t>érintet</a:t>
            </a:r>
            <a:r>
              <a:rPr lang="en-US" sz="2800" dirty="0">
                <a:latin typeface="Bookman Old Style"/>
              </a:rPr>
              <a:t> </a:t>
            </a:r>
            <a:r>
              <a:rPr lang="en-US" sz="2800" dirty="0" err="1">
                <a:latin typeface="Bookman Old Style"/>
              </a:rPr>
              <a:t>csak</a:t>
            </a:r>
            <a:r>
              <a:rPr lang="en-US" sz="2800" dirty="0">
                <a:latin typeface="Bookman Old Style"/>
              </a:rPr>
              <a:t> a </a:t>
            </a:r>
            <a:r>
              <a:rPr lang="en-US" sz="2800" dirty="0" err="1">
                <a:latin typeface="Bookman Old Style"/>
              </a:rPr>
              <a:t>szeme</a:t>
            </a:r>
            <a:r>
              <a:rPr lang="en-US" sz="2800" dirty="0">
                <a:latin typeface="Bookman Old Style"/>
              </a:rPr>
              <a:t> </a:t>
            </a:r>
            <a:r>
              <a:rPr lang="en-US" sz="2800" dirty="0" err="1">
                <a:latin typeface="Bookman Old Style"/>
              </a:rPr>
              <a:t>izmát</a:t>
            </a:r>
            <a:r>
              <a:rPr lang="en-US" sz="2800" dirty="0">
                <a:latin typeface="Bookman Old Style"/>
              </a:rPr>
              <a:t> </a:t>
            </a:r>
            <a:r>
              <a:rPr lang="en-US" sz="2800" dirty="0" err="1">
                <a:latin typeface="Bookman Old Style"/>
              </a:rPr>
              <a:t>tudja</a:t>
            </a:r>
            <a:r>
              <a:rPr lang="en-US" sz="2800" dirty="0">
                <a:latin typeface="Bookman Old Style"/>
              </a:rPr>
              <a:t> </a:t>
            </a:r>
            <a:r>
              <a:rPr lang="en-US" sz="2800" dirty="0" err="1">
                <a:latin typeface="Bookman Old Style"/>
              </a:rPr>
              <a:t>mozgatni</a:t>
            </a:r>
            <a:r>
              <a:rPr lang="en-US" sz="2800" dirty="0">
                <a:latin typeface="Bookman Old Style"/>
              </a:rPr>
              <a:t>, </a:t>
            </a:r>
            <a:r>
              <a:rPr lang="en-US" sz="2800" dirty="0" err="1">
                <a:latin typeface="Bookman Old Style"/>
              </a:rPr>
              <a:t>más</a:t>
            </a:r>
            <a:r>
              <a:rPr lang="en-US" sz="2800" dirty="0">
                <a:latin typeface="Bookman Old Style"/>
              </a:rPr>
              <a:t> </a:t>
            </a:r>
            <a:r>
              <a:rPr lang="en-US" sz="2800" dirty="0" err="1">
                <a:latin typeface="Bookman Old Style"/>
              </a:rPr>
              <a:t>izmait</a:t>
            </a:r>
            <a:r>
              <a:rPr lang="en-US" sz="2800" dirty="0">
                <a:latin typeface="Bookman Old Style"/>
              </a:rPr>
              <a:t> </a:t>
            </a:r>
            <a:r>
              <a:rPr lang="en-US" sz="2800" dirty="0" err="1">
                <a:latin typeface="Bookman Old Style"/>
              </a:rPr>
              <a:t>nem</a:t>
            </a:r>
          </a:p>
          <a:p>
            <a:pPr>
              <a:buFont typeface="Wingdings" charset="2"/>
              <a:buChar char="Ø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048827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6F664-138B-3614-A802-4BB06C86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Összegzés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2DFBF-2819-B0FB-AA86-E939B3065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A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paranormális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világ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izgalmas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és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rejtélyes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,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sok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jelenség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nincs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bizonyítva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</a:t>
            </a:r>
            <a:endParaRPr lang="en-US" sz="2800">
              <a:latin typeface="Bookman Old Style"/>
            </a:endParaRPr>
          </a:p>
          <a:p>
            <a:pPr>
              <a:buClr>
                <a:srgbClr val="FFFFFF"/>
              </a:buClr>
              <a:buFont typeface="Wingdings" charset="2"/>
              <a:buChar char="Ø"/>
            </a:pP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Nyitott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kérdés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: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valóság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vagy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képzelet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?</a:t>
            </a:r>
            <a:endParaRPr lang="en-US" sz="28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Bookman Old Style"/>
            </a:endParaRPr>
          </a:p>
          <a:p>
            <a:pPr>
              <a:buClr>
                <a:srgbClr val="FFFFFF"/>
              </a:buClr>
              <a:buFont typeface="Wingdings" charset="2"/>
              <a:buChar char="Ø"/>
            </a:pP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A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világ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tele van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megmagyarázatlan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jelenségekkel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.</a:t>
            </a:r>
            <a:endParaRPr lang="en-US" sz="28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Bookman Old Style"/>
            </a:endParaRPr>
          </a:p>
          <a:p>
            <a:pPr>
              <a:buClr>
                <a:srgbClr val="FFFFFF"/>
              </a:buClr>
              <a:buFont typeface="Wingdings" charset="2"/>
              <a:buChar char="Ø"/>
            </a:pP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</a:rPr>
              <a:t> 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Ne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higgy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el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mindent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, de ne is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utasíts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el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 </a:t>
            </a:r>
            <a:r>
              <a:rPr lang="en-US" sz="2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mindent</a:t>
            </a:r>
            <a:r>
              <a:rPr lang="en-US" sz="2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Bookman Old Style"/>
                <a:ea typeface="+mn-lt"/>
                <a:cs typeface="+mn-lt"/>
              </a:rPr>
              <a:t>.</a:t>
            </a:r>
            <a:endParaRPr lang="en-US" sz="28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Bookman Old Style"/>
            </a:endParaRPr>
          </a:p>
          <a:p>
            <a:pPr>
              <a:buClr>
                <a:srgbClr val="FFFFFF"/>
              </a:buClr>
              <a:buFont typeface="Wingdings" charset="2"/>
              <a:buChar char="Ø"/>
            </a:pPr>
            <a:endParaRPr lang="en-US" sz="28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  <a:buFont typeface="Wingdings" charset="2"/>
              <a:buChar char="Ø"/>
            </a:pP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23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1B37244A-F596-4AE0-8F98-5CB827F33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charset="2"/>
              <a:buChar char="Ø"/>
            </a:pPr>
            <a:r>
              <a:rPr lang="hu-HU" sz="2800" dirty="0"/>
              <a:t>Köszönöm a figyelmet!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331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TM03457485[[fn=Szita]]</Template>
  <TotalTime>39</TotalTime>
  <Words>288</Words>
  <Application>Microsoft Office PowerPoint</Application>
  <PresentationFormat>Szélesvásznú</PresentationFormat>
  <Paragraphs>52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9" baseType="lpstr">
      <vt:lpstr>Arial</vt:lpstr>
      <vt:lpstr>Book Antiqua</vt:lpstr>
      <vt:lpstr>Bookman Old Style</vt:lpstr>
      <vt:lpstr>Browallia New</vt:lpstr>
      <vt:lpstr>Neue Haas Grotesk Text Pro</vt:lpstr>
      <vt:lpstr>Wingdings</vt:lpstr>
      <vt:lpstr>DylanVTI</vt:lpstr>
      <vt:lpstr>A paranormális világ rejtélyei</vt:lpstr>
      <vt:lpstr>Bevezetés</vt:lpstr>
      <vt:lpstr>Mi az a paranormális?</vt:lpstr>
      <vt:lpstr>Szellemek és kísértetek</vt:lpstr>
      <vt:lpstr>Árny jelenségek</vt:lpstr>
      <vt:lpstr>Szuperképességek, létezhetnek e? </vt:lpstr>
      <vt:lpstr>Poltergeist jelenségek</vt:lpstr>
      <vt:lpstr>Hit és tudomány kell e válaszatni?</vt:lpstr>
      <vt:lpstr>Kriptozoológia</vt:lpstr>
      <vt:lpstr>Alvás paralízis</vt:lpstr>
      <vt:lpstr>Összegzés: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Kollár Dávid József</dc:creator>
  <cp:lastModifiedBy>Kollár Dávid József</cp:lastModifiedBy>
  <cp:revision>397</cp:revision>
  <dcterms:created xsi:type="dcterms:W3CDTF">2026-03-20T10:00:19Z</dcterms:created>
  <dcterms:modified xsi:type="dcterms:W3CDTF">2026-04-24T08:56:48Z</dcterms:modified>
</cp:coreProperties>
</file>